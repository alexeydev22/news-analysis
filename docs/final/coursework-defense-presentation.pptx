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4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8T19:54:20.634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1 24575,'83'9'0,"0"1"0,0-1 0,-15-1 0,-2 0 0,5 0 0,7 3 0,7 1 0,0 0 0,-6-1 0,-1 0 0,-5-2 0,-1 0 0,-4-1 0,-1-1 0,-1 0 0,30 2 0,0 0 0,-2 0 0,-1 0 0,-3 1 0,-2 0 0,-5 0 0,-2 0 0,-10 1 0,-2-1 0,-10-2 0,-2-1 0,39 2 0,-23-4 0,-15-5 0,-16 0 0,11 0 0,43-3 0,-33 2 0,8 0 0,8 0-197,-8 0 0,7 0 1,4 0-1,4 0 0,3 1 33,3 0 0,5-1 0,2 1 0,3 0 0,2 1 0,0 1 41,-17 0 0,0 0 0,2 1 0,1 0 0,1 0 0,0 1 0,0 0 0,-1 0 0,2 1 0,1 0 0,0 1 0,1 0 0,-1 0 0,-1 1 0,0 0 0,-3 0-18,6 1 1,-1 0-1,-1 1 1,-2 0-1,0 0 1,-3 1-1,-1-1-56,16 2 0,-2 0 1,-3 1-1,-2-1 0,-4-2-49,4 1 0,-3-2 0,-3-1 0,-7-2-82,0-3 0,-5-2 0,-7-3-164,10-4 0,-11-3 1475,3-8 0,-101 4-492,-34 9 1,-19 6-165,2-2 1,-8 2 0,-3-1-83,13-1 1,-3 0 0,-1 1 0,-2-2-1,-6 1 1,-3-1 0,1-1 0,1 1-1,5 0 1,1 0 0,1 0 0,1-1-173,-17-1 1,3 1 0,2-1-173,10 0 1,2 1 0,5-1 98,-15 0 0,6-1 0,8-1 0,6 1 0,13 1 0,5-1 0,-25-1 0,31 1 245,29-2 1,12 4 0,9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8T19:54:36.399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1 970 24575,'86'0'0,"0"0"0,-16 1 0,2 0 0,2 2 0,11 0 0,2 2 0,2 0 0,8 2 0,1 0 0,-2 1 0,-10 0 0,-2 0 0,-4 0 0,22 1 0,-5-1 0,-8-2 0,-3-3 0,-16-1 0,-2-1 0,8-1 0,1 0 0,3 0 0,0 0 0,-4 0 0,0 0 0,4 1 0,0 0 0,0 2 0,-1 0 0,-4 0 0,-2 0 0,-2 2 0,-2-1 0,-8-1 0,-2 0 0,40 3 0,-13-1 0,-11-2 0,-4-1 0,0-2 0,-4-2 0,-7-5 0,-11-4 0,-8-2 0,2 4 0,39 4 0,-15 5 0,12 0 0,7 2 0,11 2 0,7 0-197,-18 0 0,6 1 1,3 0-1,4 1 0,3 0 56,-14 0 1,3 1-1,2 0 1,1 0-1,3 0 1,1 1-1,1 1 31,-12-1 1,1 0 0,1 0 0,2 1-1,1 0 1,0 0 0,0 1 0,1-1-1,-1 1 0,4 0 1,1 1 0,1-1 0,0 1-1,0 0 1,0 1 0,0-1 0,-1 0-1,0 0 0,-3 0 1,1 0 0,0 0 0,-1 1-1,1-1 1,-2 0 0,0 0 0,0 0-1,-2 0-13,6 0 0,-2 0 0,1 0 0,-2 0 0,0 0 0,-1 0 0,-2-1 0,0 0-18,3 0 1,-1 0-1,-1-1 1,-1 0-1,-2 0 1,-1-1-1,-3 0-56,16 1 0,-2-1 1,-2 0-1,-5-1 0,-4-1-49,-3 0 0,-4-1 0,-4-1 0,-7 0-246,24 2 0,-13-3 970,10-3-478,-13-6 0,-18-2 0,7-2 0,22-5 0,8-4 327,-23 3 1,4-1 0,0 0-1,9-2 1,1-1 0,-1 0-1,-2 1 1,0-1 0,-3 1-1,-5 2 1,-3 0 0,-1 0 163,23-6 1,-5 1-1,-15 2 1,-4 2-1,-12 2 1,-5 1 491,18-8-504,-32 10-479,-20 5 983,-11 3-947,-5 1-36,3-2 0,-1-3 0,-1 1 0,-2-2 0,-4-1 0,-8 0 0,-18-8 0,-28-4 0,-38-9 0,30 12 0,-6-2 0,-13-4 0,-5-1 0,-7-1 0,-1 0 0,-2 1 0,-1 1 0,6 4 0,2 2 0,14 6 0,5 1 0,13 3 0,5 2 0,-18-1 0,32 4 0,18 3 0,11 2 0,-20 0 0,-56 0 0,4 0 0,-14 0 0,8 1 0,-7 0 0,-3 1 0,14 0 0,-3 0 0,-1 0 0,-1 1-246,-7-1 0,-1 2 0,0-1 0,1 1 5,5-1 0,0 0 1,1 1-1,3-1 241,8-1 0,1 0 0,2 0 0,2 0-6,-10 0 1,3-1-1,6 0 6,-9-1 0,8 0 0,18 0 0,6 0 0,-10 0 0,31 1 0,14 1 983,-6 0-21,-46 5-953,3-1 1,-9 1-10,-19 1 0,-6 0 0,26-2 0,-1 0 0,0 0 0,6-2 0,0 0 0,4-1 0,-14 0 0,7-2 0,18 1 0,6-1 0,-7-1 0,30 2 0,14 0 0,4 0 0,-4-1 0,-4-1 0,-13 3 0,-10-1 0,-16 3 0,-9 0 0,-8 0 0,-4 3 0,0-2 0,3 1 0,1 1 0,1-3 0,0 0 0,-4-1 0,0-1 0,-2-1 0,2 0 0,6-2 0,6 0 0,7 0 0,3 0 0,2 0 0,-4 0 0,-4 0 0,-2 0 0,1 0 0,0 0 0,3 0 0,0 0 0,0 0 0,1 0 0,-1 0 0,3 0 0,2 0 0,4 0 0,6 0 0,8 0 0,5 0 0,13 0 0,84-2 0,-18-2 0,9 1 0,8-1 0,8 1 0,2-1 0,5-1 0,2 0 0,2 0-246,-14 2 0,2 0 0,0 0 0,1 0 87,5 1 0,0 0 0,2 0 0,-1 0 159,4 1 0,-1 0 0,2 1 0,0-1 0,4 0 0,0 0 0,1 1 0,0-2 0,-2 1 0,0-1 0,-1-1 0,-1 1 0,-2-2 0,-1 0 0,-1 0 0,-2 0 0,-5-1 0,0 0 0,-2 0 0,-2 0-128,13-1 1,-3 0-1,-3 0 128,-10 1 0,-2 0 0,-3 1 0,17 0 0,-6 1 0,-15 1 0,-3 1 0,38 0 0,-22 1 983,-7 0-379,-14 0-188,-3 0-416,35 0 0,-15 0 0,10 0 0,-5 0 0,5 0 0,5 0-246,-6 0 0,5 0 0,2 0 0,1 0 0,9 0 0,2 0 0,1 0 0,1 0 198,-19 0 1,2 0 0,-1 0 0,0 0-1,-1 0 48,19 0 0,-1 0 0,-1 0 0,-2 0 0,-12 0 0,-2 0 0,-2 0 0,-2 0-138,12 0 0,-3 0 0,-4 0 138,-13 0 0,-3 0 0,-3 0 0,15 0 0,-5 0 0,-10 0 0,-5 0 0,31 0 0,-25 0 983,-16 0 0,-11 0-330,-5-4-653,-4-3 0,-5 0 0,-4 1 0,-6 2 0,-2 2 0,-2-2 0,-1-1 0,7-2 0,11 1 0,16 1 0,13 3 0,10 2 0,3 0 0,1 0 0,0 0 0,9 2 0,17 4 0,-39-2 0,2 1 0,6 1 0,0-1 0,5 1 0,0-2 0,-1-1 0,1 0 0,-1-1 0,0-2 0,-1 0 0,1-1 0,1-2 0,0-1 0,1-2 0,1 0 0,1-1 0,1 1 0,0 0 0,-1 1 0,-3 1 0,0 1 0,0 1 0,-1 0 0,-5 0 0,-1 1 0,-2-1 0,-1 1 0,-3 1 0,-1 0 0,-3 0 0,-1 0 0,47 0 0,-13 0 0,-15 0 0,-18 0 0,-18 0 0,-12 0 0,-9 0 0,-2 0 0,-1 0 0,2 0 0,9 0 0,13 0 0,9 0 0,9 0 0,0 0 0,-4 0 0,-4 0 0,-10 0 0,-7 0 0,-7 2 0,-7 2 0,-5 1 0,-2 3 0,-1 4 0,4 8 0,1 5 0,-1 4 0,-1-1 0,-4-3 0,-2-2 0,-2-1 0,-2-4 0,-2-5 0,-2-5 0,-4-4 0,-5-4 0,3 1 0,-2-1 0,0 1 0,-5 3 0,-4 0 0,-3 2 0,-1 0 0,-6 2 0,-9 3 0,-14 3 0,-13 1 0,-9-1 0,-2-1 0,1-3 0,5-1 0,0-2 0,-3 0 0,-9 0 0,-8 0 0,-4-2 0,-3-3 0,1-1 0,47-1 0,1 0 0,-2 0 0,-1 1 0,-1 0 0,-1 1 0,0 0 0,0 1 0,-1 0 0,0-1 0,-3 0 0,-1 0 0,-2 1 0,-1 0 0,-2 0 0,-2 0 0,-4 3 0,-1 2 0,-1-1 0,1 1 0,-1 0 0,-1-2 0,1 1 0,-1-2 0,3-2 0,1-1 0,0-1 0,1 1 0,5-2 0,0 1 0,7-1 0,1 0 0,-44 0 0,13 0 0,8 0 0,5 0 0,1 0 0,2 0 0,2 0 0,1 0 0,5 0 0,5 0 0,6 0 0,10 0 0,2 0 0,3 1 0,0 2 0,0-1 0,0 2 0,-3 0 0,-7 3 0,-9 3 0,-14 2 0,-14 2 0,-11 3 0,43-7 0,-2 1 0,0-2 0,0 1 0,0 0 0,-1 0 0,1-2 0,1-1 0,0-1 0,2 0 0,-1-2 0,0 0 0,2-2 0,0-1 0,-49 1 0,3-2 0,4 0 0,1-4 0,3-6 0,3-6 0,4-3 0,4 0 0,4 2 0,3 1 0,3 0 0,5 2 0,5 3 0,7 0 0,4 1 0,2 3 0,1 1 0,1 0 0,-1-1 0,-2-2 0,-1 1 0,-1 1 0,1 3 0,1-1 0,2 0 0,2 1 0,2-1 0,7 3 0,4 0 0,10 0 0,11 0 0,54 0 0,28 1 0,-12 0 0,6 1 0,3 0 0,2 0 0,4 0 0,1 0 0,0 0 0,2 0 0,0 0 0,0 0 0,0 1 0,-1 0 0,-4 3 0,-1 3 0,-6 2 0,-3 4 0,-8 1 0,-3 3 0,30 16 0,-21-3 0,-18-6 0,-10-3 0,-7-2 0,-2-1 0,-3-5 0,-2-4 0,-4-5 0,-1-3 0,2-1 0,2 0 0,1 0 0,0 0 0,-4 0 0,-3 0 0,-4-2 0,-56-9 0,-4 2 0,-8 1 0,-9 1 0,-3 2 0,-3 2 0,-20-1 0,-7 0 0,16 1 0,-4 0 0,-1-1-296,-4 0 1,-1 0 0,2 0 295,5 0 0,0 0 0,3-1 0,10 0 0,2 1 0,4-1 0,-6-1 0,5 0 0,9-1 0,4 0 0,-43-8 0,19 1 0,18 2 0,13 5 886,9 1-886,0 2 0,1 1 0,1-1 0,2 2 0,4-2 0,0-1 0,-1 1 0,-4-2 0,-2 0 0,-3-4 0,-2-3 0,-2-4 0,1-4 0,1-4 0,6-4 0,6-3 0,2-1 0,2 2 0,0 2 0,1 6 0,2 3 0,3 5 0,5 2 0,11 5 0,38 5 0,2 3 0,28 4 0,-19 1 0,-10-2 0,-9 1 0,-7-2 0,-90 0 0,-2-1 0,-18-1 0,24 1 0,-8-1 0,-7 0 0,-4 0 0,-2-1-141,6 1 1,-3 0-1,-4 0 1,-2 0-1,-2 0 1,-3 0-1,0 0 31,6 0 1,-1 0 0,-2 0 0,-2 0-1,-2 0 1,0 0 0,-1 0 0,-1 0-1,1 0 11,2 0 1,-2 0 0,0 0-1,-1 0 1,-1 0 0,0 0-1,1 0 1,-1 0 0,1 0-1,2 0 0,2 1 1,0-1 0,0 1-1,1-1 1,0 1 0,0-1-1,1 1 1,1 0 0,0 0-1,2 0-11,-3 0 1,0 0 0,1 0 0,0 0-1,2 0 1,0 1 0,2-1 0,1 1-1,2 0-31,-9 0 1,0 1-1,3 0 1,1 0-1,2 0 1,2 0-1,3 0-56,-13 0 0,3 2 1,4-1-1,1 0 0,4-1-49,-8 1 0,4-1 0,3 0 0,4-1-82,-3 1 0,5-1 0,4-1 42,-16-1 1,6-2 285,13-1 0,6-1 983,-21-11 0,36-2 0,28-3 0,26-6 0,7-2 0,1-19 0,-1-28-492,-6 26 1,0-4-1,1-9 1,2-2-202,0 3 0,2 1-290,0 4 0,1 4 0,8-32 0,1 24 0,1 18 0,-4 20 0,0 7 0,-2 7 0,0 4 0,1 0 0,1 0 0,3 0 0,4-1 0,0 1 0,-1 1 0,-3 1 0,-4 2 0,-2 0 0,-1 0 0,-1 0 0,4 0 0,3 0 0,4 2 0,6 8 0,8 10 0,6 15 0,4 10 0,-3 0 0,-8-7 0,-10-14 0,-12-12 0,-6-7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22670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2.xml"/><Relationship Id="rId5" Type="http://schemas.openxmlformats.org/officeDocument/2006/relationships/image" Target="../media/image2.png"/><Relationship Id="rId4" Type="http://schemas.openxmlformats.org/officeDocument/2006/relationships/customXml" Target="../ink/ink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219456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Финансовый университет при Правительстве РФ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51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КУРСОВАЯ РАБОТА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1627632"/>
            <a:ext cx="10149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Разработка автоматической диалоговой системы на основе языковой модели для анализа экономических новостей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989320" y="3703320"/>
            <a:ext cx="5166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Выполнил: Прудиев Алексей Сергеевич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Группа: ПМ23-4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Руководитель: доцент Романова Екатерина Владимировна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005840" y="5166360"/>
            <a:ext cx="10149840" cy="0"/>
          </a:xfrm>
          <a:prstGeom prst="line">
            <a:avLst/>
          </a:prstGeom>
          <a:noFill/>
          <a:ln w="12700">
            <a:solidFill>
              <a:srgbClr val="B7C6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568756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Москва, 2026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Прудиев Алексей Сергеевич · ПМ23-4 · 1/15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Актуальность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9601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Экономические новости требуют быстрого поиска, фильтрации и интерпретации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Прудиев Алексей Сергеевич · ПМ23-4 · 2/15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1335024"/>
            <a:ext cx="2240280" cy="292608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8952" y="1408176"/>
            <a:ext cx="209397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Введение: актуальность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31520" y="1810512"/>
            <a:ext cx="5486400" cy="2331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Поток экономических новостей слишком велик для ручного анализа.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Одно событие может по-разному влиять на рынок, компанию или сектор.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Пользователю нужен ответ на естественном языке, но с проверяемыми источниками.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Система объединяет retrieval, ML-оценку влияния и аналитический вывод.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629400" y="1783080"/>
            <a:ext cx="1417320" cy="749808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39128" y="1892808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51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50 000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739128" y="2221992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новостей FNSPID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275320" y="1783080"/>
            <a:ext cx="1417320" cy="749808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85048" y="1892808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51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85048" y="2221992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модели анализа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9921240" y="1783080"/>
            <a:ext cx="1645920" cy="749808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30968" y="1892808"/>
            <a:ext cx="1426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51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10 000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030968" y="2221992"/>
            <a:ext cx="1426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документов в прогнозе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621792" y="470916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4882896"/>
            <a:ext cx="1307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новости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130552" y="4919472"/>
            <a:ext cx="256032" cy="219456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77440" y="470916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32304" y="4882896"/>
            <a:ext cx="1307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вопрос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886200" y="4919472"/>
            <a:ext cx="256032" cy="219456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3088" y="470916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87952" y="4882896"/>
            <a:ext cx="1307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поиск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41848" y="4919472"/>
            <a:ext cx="256032" cy="219456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888736" y="470916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4882896"/>
            <a:ext cx="1307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ML-анализ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397496" y="4919472"/>
            <a:ext cx="256032" cy="219456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4384" y="470916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99248" y="4882896"/>
            <a:ext cx="1307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ответ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153144" y="4919472"/>
            <a:ext cx="256032" cy="219456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400032" y="470916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454896" y="4882896"/>
            <a:ext cx="1307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прогноз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Цель и задачи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9601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Цель: разработать диалоговую систему для анализа экономических новостей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Прудиев Алексей Сергеевич · ПМ23-4 · 3/15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13232" y="1298448"/>
            <a:ext cx="2560320" cy="292608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371600"/>
            <a:ext cx="24140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Введение: цель и задачи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49808" y="1691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51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Цель работы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9808" y="2029968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Создать систему, которая принимает вопрос пользователя, находит релевантные экономические новости, оценивает их влияние и формирует ответ с источниками.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172200" y="1691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51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Задачи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172200" y="2029968"/>
            <a:ext cx="5029200" cy="2697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Подготовить датасет FNSPID и постановку ML-задачи.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Сравнить три модели классификации влияния.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Реализовать retrieval и RAG-ответ по источникам.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Подключить внешнюю языковую модель для аналитического вывода.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Собрать веб-интерфейс и микросервисную backend-архитектуру.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Данные и постановка задачи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9601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FNSPID используется как корпус экономических новостей для обучения и анализа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Прудиев Алексей Сергеевич · ПМ23-4 · 4/15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13232" y="1298448"/>
            <a:ext cx="2148840" cy="292608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371600"/>
            <a:ext cx="20025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Методы и результаты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22960" y="1755648"/>
            <a:ext cx="1554480" cy="749808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865376"/>
            <a:ext cx="13350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51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50 000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32688" y="2194560"/>
            <a:ext cx="1335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строк в датасете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2606040" y="1755648"/>
            <a:ext cx="1325880" cy="749808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15768" y="1865376"/>
            <a:ext cx="1106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51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715768" y="2194560"/>
            <a:ext cx="1106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класса влияния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4160520" y="1755648"/>
            <a:ext cx="1645920" cy="749808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70248" y="1865376"/>
            <a:ext cx="1426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51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train / val / test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270248" y="2194560"/>
            <a:ext cx="1426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разделение выборки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822960" y="2880360"/>
            <a:ext cx="2834640" cy="438912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" y="2953512"/>
            <a:ext cx="2706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F51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Элемент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0" y="2880360"/>
            <a:ext cx="7315200" cy="438912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21608" y="2953512"/>
            <a:ext cx="7187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F51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Описание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2960" y="3319272"/>
            <a:ext cx="283464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" y="3392424"/>
            <a:ext cx="2706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Объект анализа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3657600" y="3319272"/>
            <a:ext cx="731520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21608" y="3392424"/>
            <a:ext cx="7187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экономическая новость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822960" y="3758184"/>
            <a:ext cx="283464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6968" y="3831336"/>
            <a:ext cx="2706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Вход модели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3657600" y="3758184"/>
            <a:ext cx="731520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21608" y="3831336"/>
            <a:ext cx="7187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заголовок и полный текст новости</a:t>
            </a:r>
            <a:endParaRPr lang="en-US" sz="960" dirty="0"/>
          </a:p>
        </p:txBody>
      </p:sp>
      <p:sp>
        <p:nvSpPr>
          <p:cNvPr id="30" name="Shape 28"/>
          <p:cNvSpPr/>
          <p:nvPr/>
        </p:nvSpPr>
        <p:spPr>
          <a:xfrm>
            <a:off x="822960" y="4197096"/>
            <a:ext cx="283464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6968" y="4270248"/>
            <a:ext cx="2706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Целевая переменная</a:t>
            </a:r>
            <a:endParaRPr lang="en-US" sz="960" dirty="0"/>
          </a:p>
        </p:txBody>
      </p:sp>
      <p:sp>
        <p:nvSpPr>
          <p:cNvPr id="32" name="Shape 30"/>
          <p:cNvSpPr/>
          <p:nvPr/>
        </p:nvSpPr>
        <p:spPr>
          <a:xfrm>
            <a:off x="3657600" y="4197096"/>
            <a:ext cx="731520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21608" y="4270248"/>
            <a:ext cx="7187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positive / neutral / negative</a:t>
            </a:r>
            <a:endParaRPr lang="en-US" sz="960" dirty="0"/>
          </a:p>
        </p:txBody>
      </p:sp>
      <p:sp>
        <p:nvSpPr>
          <p:cNvPr id="34" name="Shape 32"/>
          <p:cNvSpPr/>
          <p:nvPr/>
        </p:nvSpPr>
        <p:spPr>
          <a:xfrm>
            <a:off x="822960" y="4636008"/>
            <a:ext cx="283464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86968" y="4709160"/>
            <a:ext cx="2706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Проблема данных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3657600" y="4636008"/>
            <a:ext cx="731520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721608" y="4709160"/>
            <a:ext cx="7187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шумная разметка и дисбаланс классов</a:t>
            </a:r>
            <a:endParaRPr lang="en-US" sz="960" dirty="0"/>
          </a:p>
        </p:txBody>
      </p:sp>
      <p:sp>
        <p:nvSpPr>
          <p:cNvPr id="38" name="Shape 36"/>
          <p:cNvSpPr/>
          <p:nvPr/>
        </p:nvSpPr>
        <p:spPr>
          <a:xfrm>
            <a:off x="822960" y="5074920"/>
            <a:ext cx="283464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86968" y="5148072"/>
            <a:ext cx="2706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Ключевая метрика</a:t>
            </a:r>
            <a:endParaRPr lang="en-US" sz="960" dirty="0"/>
          </a:p>
        </p:txBody>
      </p:sp>
      <p:sp>
        <p:nvSpPr>
          <p:cNvPr id="40" name="Shape 38"/>
          <p:cNvSpPr/>
          <p:nvPr/>
        </p:nvSpPr>
        <p:spPr>
          <a:xfrm>
            <a:off x="3657600" y="5074920"/>
            <a:ext cx="731520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21608" y="5148072"/>
            <a:ext cx="7187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macro F1, так как важны все классы</a:t>
            </a:r>
            <a:endParaRPr lang="en-US" sz="960" dirty="0"/>
          </a:p>
        </p:txBody>
      </p:sp>
      <p:sp>
        <p:nvSpPr>
          <p:cNvPr id="42" name="Text 40"/>
          <p:cNvSpPr/>
          <p:nvPr/>
        </p:nvSpPr>
        <p:spPr>
          <a:xfrm>
            <a:off x="822960" y="566928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F3A5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Классификация используется не изолированно: ее результат входит в RAG-ответ и тематический прогноз.</a:t>
            </a:r>
            <a:endParaRPr lang="en-US" sz="13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ML-модели и метрики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9601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Сравниваются простая, семантическая и легкая нейросетевая модель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Прудиев Алексей Сергеевич · ПМ23-4 · 5/15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13232" y="1298448"/>
            <a:ext cx="2148840" cy="292608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371600"/>
            <a:ext cx="20025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Методы и результаты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49808" y="1783080"/>
            <a:ext cx="2514600" cy="594360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3816" y="1856232"/>
            <a:ext cx="23865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F51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Модель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64408" y="1783080"/>
            <a:ext cx="3657600" cy="594360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28416" y="1856232"/>
            <a:ext cx="35295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F51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Идея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922008" y="1783080"/>
            <a:ext cx="4572000" cy="594360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86016" y="1856232"/>
            <a:ext cx="44439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F51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Зачем нужна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49808" y="2377440"/>
            <a:ext cx="2514600" cy="59436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3816" y="2450592"/>
            <a:ext cx="23865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tfidf-logreg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3264408" y="2377440"/>
            <a:ext cx="3657600" cy="59436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28416" y="2450592"/>
            <a:ext cx="35295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TF-IDF + Logistic Regression</a:t>
            </a:r>
            <a:endParaRPr lang="en-US" sz="960" dirty="0"/>
          </a:p>
        </p:txBody>
      </p:sp>
      <p:sp>
        <p:nvSpPr>
          <p:cNvPr id="19" name="Shape 17"/>
          <p:cNvSpPr/>
          <p:nvPr/>
        </p:nvSpPr>
        <p:spPr>
          <a:xfrm>
            <a:off x="6922008" y="2377440"/>
            <a:ext cx="4572000" cy="59436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86016" y="2450592"/>
            <a:ext cx="44439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быстрый и объяснимый baseline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749808" y="2971800"/>
            <a:ext cx="2514600" cy="59436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3816" y="3044952"/>
            <a:ext cx="23865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embedding-logreg</a:t>
            </a:r>
            <a:endParaRPr lang="en-US" sz="960" dirty="0"/>
          </a:p>
        </p:txBody>
      </p:sp>
      <p:sp>
        <p:nvSpPr>
          <p:cNvPr id="23" name="Shape 21"/>
          <p:cNvSpPr/>
          <p:nvPr/>
        </p:nvSpPr>
        <p:spPr>
          <a:xfrm>
            <a:off x="3264408" y="2971800"/>
            <a:ext cx="3657600" cy="59436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28416" y="3044952"/>
            <a:ext cx="35295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embeddings + Logistic Regression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6922008" y="2971800"/>
            <a:ext cx="4572000" cy="59436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86016" y="3044952"/>
            <a:ext cx="44439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проверка семантических признаков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749808" y="3566160"/>
            <a:ext cx="2514600" cy="59436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3816" y="3639312"/>
            <a:ext cx="23865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tiny-transformer-classifier</a:t>
            </a:r>
            <a:endParaRPr lang="en-US" sz="960" dirty="0"/>
          </a:p>
        </p:txBody>
      </p:sp>
      <p:sp>
        <p:nvSpPr>
          <p:cNvPr id="29" name="Shape 27"/>
          <p:cNvSpPr/>
          <p:nvPr/>
        </p:nvSpPr>
        <p:spPr>
          <a:xfrm>
            <a:off x="3264408" y="3566160"/>
            <a:ext cx="3657600" cy="59436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28416" y="3639312"/>
            <a:ext cx="35295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легкий transformer</a:t>
            </a:r>
            <a:endParaRPr lang="en-US" sz="960" dirty="0"/>
          </a:p>
        </p:txBody>
      </p:sp>
      <p:sp>
        <p:nvSpPr>
          <p:cNvPr id="31" name="Shape 29"/>
          <p:cNvSpPr/>
          <p:nvPr/>
        </p:nvSpPr>
        <p:spPr>
          <a:xfrm>
            <a:off x="6922008" y="3566160"/>
            <a:ext cx="4572000" cy="59436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86016" y="3639312"/>
            <a:ext cx="44439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нейросетевой вариант с малым потреблением ресурсов</a:t>
            </a:r>
            <a:endParaRPr lang="en-US" sz="960" dirty="0"/>
          </a:p>
        </p:txBody>
      </p:sp>
      <p:sp>
        <p:nvSpPr>
          <p:cNvPr id="33" name="Text 31"/>
          <p:cNvSpPr/>
          <p:nvPr/>
        </p:nvSpPr>
        <p:spPr>
          <a:xfrm>
            <a:off x="868680" y="4480560"/>
            <a:ext cx="9875520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Accuracy показывает общую долю верных классификаций.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Macro F1 показывает качество по каждому классу и важен при дисбалансе.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Inference time нужен, чтобы оценить применимость модели в интерактивной системе.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Результаты моделей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9601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Лучшее качество показала TF-IDF + Logistic Regression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Прудиев Алексей Сергеевич · ПМ23-4 · 6/15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13232" y="1298448"/>
            <a:ext cx="2148840" cy="292608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371600"/>
            <a:ext cx="20025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Методы и результаты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2743200" cy="530352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1810512"/>
            <a:ext cx="2615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F51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Модель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56432" y="1737360"/>
            <a:ext cx="1828800" cy="530352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1810512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F51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Test accuracy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5232" y="1737360"/>
            <a:ext cx="1828800" cy="530352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49240" y="1810512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F51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Test macro F1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114032" y="1737360"/>
            <a:ext cx="4389120" cy="530352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78040" y="1810512"/>
            <a:ext cx="4261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F51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Роль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13232" y="2267712"/>
            <a:ext cx="2743200" cy="530352"/>
          </a:xfrm>
          <a:prstGeom prst="rect">
            <a:avLst/>
          </a:prstGeom>
          <a:solidFill>
            <a:srgbClr val="F6F1E8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2340864"/>
            <a:ext cx="2615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tfidf-logreg</a:t>
            </a:r>
            <a:endParaRPr lang="en-US" sz="960" dirty="0"/>
          </a:p>
        </p:txBody>
      </p:sp>
      <p:sp>
        <p:nvSpPr>
          <p:cNvPr id="19" name="Shape 17"/>
          <p:cNvSpPr/>
          <p:nvPr/>
        </p:nvSpPr>
        <p:spPr>
          <a:xfrm>
            <a:off x="3456432" y="2267712"/>
            <a:ext cx="1828800" cy="530352"/>
          </a:xfrm>
          <a:prstGeom prst="rect">
            <a:avLst/>
          </a:prstGeom>
          <a:solidFill>
            <a:srgbClr val="F6F1E8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20440" y="2340864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0.785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5285232" y="2267712"/>
            <a:ext cx="1828800" cy="530352"/>
          </a:xfrm>
          <a:prstGeom prst="rect">
            <a:avLst/>
          </a:prstGeom>
          <a:solidFill>
            <a:srgbClr val="F6F1E8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49240" y="2340864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0.717</a:t>
            </a:r>
            <a:endParaRPr lang="en-US" sz="960" dirty="0"/>
          </a:p>
        </p:txBody>
      </p:sp>
      <p:sp>
        <p:nvSpPr>
          <p:cNvPr id="23" name="Shape 21"/>
          <p:cNvSpPr/>
          <p:nvPr/>
        </p:nvSpPr>
        <p:spPr>
          <a:xfrm>
            <a:off x="7114032" y="2267712"/>
            <a:ext cx="4389120" cy="530352"/>
          </a:xfrm>
          <a:prstGeom prst="rect">
            <a:avLst/>
          </a:prstGeom>
          <a:solidFill>
            <a:srgbClr val="F6F1E8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78040" y="2340864"/>
            <a:ext cx="4261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лучшая baseline-модель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713232" y="2798064"/>
            <a:ext cx="274320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2871216"/>
            <a:ext cx="2615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embedding-logreg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3456432" y="2798064"/>
            <a:ext cx="182880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20440" y="2871216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0.594</a:t>
            </a:r>
            <a:endParaRPr lang="en-US" sz="960" dirty="0"/>
          </a:p>
        </p:txBody>
      </p:sp>
      <p:sp>
        <p:nvSpPr>
          <p:cNvPr id="29" name="Shape 27"/>
          <p:cNvSpPr/>
          <p:nvPr/>
        </p:nvSpPr>
        <p:spPr>
          <a:xfrm>
            <a:off x="5285232" y="2798064"/>
            <a:ext cx="182880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49240" y="2871216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0.515</a:t>
            </a:r>
            <a:endParaRPr lang="en-US" sz="960" dirty="0"/>
          </a:p>
        </p:txBody>
      </p:sp>
      <p:sp>
        <p:nvSpPr>
          <p:cNvPr id="31" name="Shape 29"/>
          <p:cNvSpPr/>
          <p:nvPr/>
        </p:nvSpPr>
        <p:spPr>
          <a:xfrm>
            <a:off x="7114032" y="2798064"/>
            <a:ext cx="438912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78040" y="2871216"/>
            <a:ext cx="4261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семантический baseline</a:t>
            </a:r>
            <a:endParaRPr lang="en-US" sz="960" dirty="0"/>
          </a:p>
        </p:txBody>
      </p:sp>
      <p:sp>
        <p:nvSpPr>
          <p:cNvPr id="33" name="Shape 31"/>
          <p:cNvSpPr/>
          <p:nvPr/>
        </p:nvSpPr>
        <p:spPr>
          <a:xfrm>
            <a:off x="713232" y="3328416"/>
            <a:ext cx="274320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7240" y="3401568"/>
            <a:ext cx="2615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tiny-transformer-classifier</a:t>
            </a:r>
            <a:endParaRPr lang="en-US" sz="960" dirty="0"/>
          </a:p>
        </p:txBody>
      </p:sp>
      <p:sp>
        <p:nvSpPr>
          <p:cNvPr id="35" name="Shape 33"/>
          <p:cNvSpPr/>
          <p:nvPr/>
        </p:nvSpPr>
        <p:spPr>
          <a:xfrm>
            <a:off x="3456432" y="3328416"/>
            <a:ext cx="182880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20440" y="3401568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0.488</a:t>
            </a:r>
            <a:endParaRPr lang="en-US" sz="960" dirty="0"/>
          </a:p>
        </p:txBody>
      </p:sp>
      <p:sp>
        <p:nvSpPr>
          <p:cNvPr id="37" name="Shape 35"/>
          <p:cNvSpPr/>
          <p:nvPr/>
        </p:nvSpPr>
        <p:spPr>
          <a:xfrm>
            <a:off x="5285232" y="3328416"/>
            <a:ext cx="182880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49240" y="3401568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0.352</a:t>
            </a:r>
            <a:endParaRPr lang="en-US" sz="960" dirty="0"/>
          </a:p>
        </p:txBody>
      </p:sp>
      <p:sp>
        <p:nvSpPr>
          <p:cNvPr id="39" name="Shape 37"/>
          <p:cNvSpPr/>
          <p:nvPr/>
        </p:nvSpPr>
        <p:spPr>
          <a:xfrm>
            <a:off x="7114032" y="3328416"/>
            <a:ext cx="438912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178040" y="3401568"/>
            <a:ext cx="4261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легкая нейросетевая модель</a:t>
            </a:r>
            <a:endParaRPr lang="en-US" sz="960" dirty="0"/>
          </a:p>
        </p:txBody>
      </p:sp>
      <p:sp>
        <p:nvSpPr>
          <p:cNvPr id="41" name="Text 39"/>
          <p:cNvSpPr/>
          <p:nvPr/>
        </p:nvSpPr>
        <p:spPr>
          <a:xfrm>
            <a:off x="868680" y="4343400"/>
            <a:ext cx="987552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TF-IDF + Logistic Regression стала наиболее устойчивой baseline-моделью.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Качество ограничено шумом разметки, дисбалансом классов и сложностью экономического контекста.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Выбранный baseline рационален для текущего RAG-сценария: он быстрый, объяснимый и воспроизводимый.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68680" y="565099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F3A5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Лучший Test macro F1: 0.717 · тематических групп в прогнозе: 2 716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ML/RAG-пайплайн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9601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Ответ формируется по найденным новостям, а не как абстрактная генерация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Прудиев Алексей Сергеевич · ПМ23-4 · 7/15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13232" y="1298448"/>
            <a:ext cx="2148840" cy="292608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371600"/>
            <a:ext cx="20025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Методы и результаты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21792" y="182880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" y="2002536"/>
            <a:ext cx="1307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вопрос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130552" y="2039112"/>
            <a:ext cx="256032" cy="219456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77440" y="182880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32304" y="2002536"/>
            <a:ext cx="1307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поиск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886200" y="2039112"/>
            <a:ext cx="256032" cy="219456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33088" y="182880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87952" y="2002536"/>
            <a:ext cx="1307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источники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41848" y="2039112"/>
            <a:ext cx="256032" cy="219456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88736" y="182880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0" y="2002536"/>
            <a:ext cx="1307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ML-оценка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97496" y="2039112"/>
            <a:ext cx="256032" cy="219456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44384" y="182880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99248" y="2002536"/>
            <a:ext cx="1307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LLM/API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153144" y="2039112"/>
            <a:ext cx="256032" cy="219456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400032" y="182880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454896" y="2002536"/>
            <a:ext cx="1307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ответ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22960" y="2971800"/>
            <a:ext cx="2331720" cy="475488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6968" y="3044952"/>
            <a:ext cx="220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F51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Шаг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54680" y="2971800"/>
            <a:ext cx="7680960" cy="475488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18688" y="3044952"/>
            <a:ext cx="7552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F51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Результат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22960" y="3447288"/>
            <a:ext cx="2331720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6968" y="3520440"/>
            <a:ext cx="220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Поиск</a:t>
            </a:r>
            <a:endParaRPr lang="en-US" sz="960" dirty="0"/>
          </a:p>
        </p:txBody>
      </p:sp>
      <p:sp>
        <p:nvSpPr>
          <p:cNvPr id="32" name="Shape 30"/>
          <p:cNvSpPr/>
          <p:nvPr/>
        </p:nvSpPr>
        <p:spPr>
          <a:xfrm>
            <a:off x="3154680" y="3447288"/>
            <a:ext cx="7680960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18688" y="3520440"/>
            <a:ext cx="7552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top-k релевантных новостей из Qdrant</a:t>
            </a:r>
            <a:endParaRPr lang="en-US" sz="960" dirty="0"/>
          </a:p>
        </p:txBody>
      </p:sp>
      <p:sp>
        <p:nvSpPr>
          <p:cNvPr id="34" name="Shape 32"/>
          <p:cNvSpPr/>
          <p:nvPr/>
        </p:nvSpPr>
        <p:spPr>
          <a:xfrm>
            <a:off x="822960" y="3922776"/>
            <a:ext cx="2331720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86968" y="3995928"/>
            <a:ext cx="220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Анализ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3154680" y="3922776"/>
            <a:ext cx="7680960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18688" y="3995928"/>
            <a:ext cx="7552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impact, confidence и объяснение для источников</a:t>
            </a:r>
            <a:endParaRPr lang="en-US" sz="960" dirty="0"/>
          </a:p>
        </p:txBody>
      </p:sp>
      <p:sp>
        <p:nvSpPr>
          <p:cNvPr id="38" name="Shape 36"/>
          <p:cNvSpPr/>
          <p:nvPr/>
        </p:nvSpPr>
        <p:spPr>
          <a:xfrm>
            <a:off x="822960" y="4398264"/>
            <a:ext cx="2331720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86968" y="4471416"/>
            <a:ext cx="220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RAG</a:t>
            </a:r>
            <a:endParaRPr lang="en-US" sz="960" dirty="0"/>
          </a:p>
        </p:txBody>
      </p:sp>
      <p:sp>
        <p:nvSpPr>
          <p:cNvPr id="40" name="Shape 38"/>
          <p:cNvSpPr/>
          <p:nvPr/>
        </p:nvSpPr>
        <p:spPr>
          <a:xfrm>
            <a:off x="3154680" y="4398264"/>
            <a:ext cx="7680960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18688" y="4471416"/>
            <a:ext cx="7552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ответ строится по найденному контексту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822960" y="4873752"/>
            <a:ext cx="2331720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86968" y="4946904"/>
            <a:ext cx="220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Прогноз</a:t>
            </a:r>
            <a:endParaRPr lang="en-US" sz="960" dirty="0"/>
          </a:p>
        </p:txBody>
      </p:sp>
      <p:sp>
        <p:nvSpPr>
          <p:cNvPr id="44" name="Shape 42"/>
          <p:cNvSpPr/>
          <p:nvPr/>
        </p:nvSpPr>
        <p:spPr>
          <a:xfrm>
            <a:off x="3154680" y="4873752"/>
            <a:ext cx="7680960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18688" y="4946904"/>
            <a:ext cx="7552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языковая модель формирует сценарный вывод по фактам</a:t>
            </a:r>
            <a:endParaRPr lang="en-US" sz="9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Микросервисная архитектура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9601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Сервисы разделяют UI, поиск, анализ, диалог и работу с данными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Прудиев Алексей Сергеевич · ПМ23-4 · 8/15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13232" y="1298448"/>
            <a:ext cx="2148840" cy="292608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371600"/>
            <a:ext cx="20025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Методы и результаты</a:t>
            </a:r>
            <a:endParaRPr lang="en-US" sz="850" dirty="0"/>
          </a:p>
        </p:txBody>
      </p:sp>
      <p:pic>
        <p:nvPicPr>
          <p:cNvPr id="9" name="Image 0" descr="/Users/a.prudiev/PyCharmMiscProject/curswork/docs/final/assets/architecture-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91640"/>
            <a:ext cx="10835640" cy="452628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1" name="Рукописный ввод 10">
                <a:extLst>
                  <a:ext uri="{FF2B5EF4-FFF2-40B4-BE49-F238E27FC236}">
                    <a16:creationId xmlns:a16="http://schemas.microsoft.com/office/drawing/2014/main" id="{F311A5A9-33C4-4EEA-90FB-8CEC9B0A41E4}"/>
                  </a:ext>
                </a:extLst>
              </p14:cNvPr>
              <p14:cNvContentPartPr/>
              <p14:nvPr/>
            </p14:nvContentPartPr>
            <p14:xfrm>
              <a:off x="1175352" y="5791732"/>
              <a:ext cx="2598840" cy="176400"/>
            </p14:xfrm>
          </p:contentPart>
        </mc:Choice>
        <mc:Fallback>
          <p:pic>
            <p:nvPicPr>
              <p:cNvPr id="11" name="Рукописный ввод 10">
                <a:extLst>
                  <a:ext uri="{FF2B5EF4-FFF2-40B4-BE49-F238E27FC236}">
                    <a16:creationId xmlns:a16="http://schemas.microsoft.com/office/drawing/2014/main" id="{F311A5A9-33C4-4EEA-90FB-8CEC9B0A41E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12712" y="5729092"/>
                <a:ext cx="2724480" cy="30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2" name="Рукописный ввод 11">
                <a:extLst>
                  <a:ext uri="{FF2B5EF4-FFF2-40B4-BE49-F238E27FC236}">
                    <a16:creationId xmlns:a16="http://schemas.microsoft.com/office/drawing/2014/main" id="{791B5C1A-C4B4-B9B8-1869-6C8BBFFF1DCA}"/>
                  </a:ext>
                </a:extLst>
              </p14:cNvPr>
              <p14:cNvContentPartPr/>
              <p14:nvPr/>
            </p14:nvContentPartPr>
            <p14:xfrm>
              <a:off x="1938912" y="5461612"/>
              <a:ext cx="5827680" cy="591120"/>
            </p14:xfrm>
          </p:contentPart>
        </mc:Choice>
        <mc:Fallback>
          <p:pic>
            <p:nvPicPr>
              <p:cNvPr id="12" name="Рукописный ввод 11">
                <a:extLst>
                  <a:ext uri="{FF2B5EF4-FFF2-40B4-BE49-F238E27FC236}">
                    <a16:creationId xmlns:a16="http://schemas.microsoft.com/office/drawing/2014/main" id="{791B5C1A-C4B4-B9B8-1869-6C8BBFFF1DC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876272" y="5398612"/>
                <a:ext cx="5953320" cy="716760"/>
              </a:xfrm>
              <a:prstGeom prst="rect">
                <a:avLst/>
              </a:prstGeom>
            </p:spPr>
          </p:pic>
        </mc:Fallback>
      </mc:AlternateContent>
      <p:sp>
        <p:nvSpPr>
          <p:cNvPr id="10" name="Text 7"/>
          <p:cNvSpPr/>
          <p:nvPr/>
        </p:nvSpPr>
        <p:spPr>
          <a:xfrm>
            <a:off x="914400" y="5730103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F3A5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Архитектура оставляет ML-часть наблюдаемой: можно отдельно проверить данные, retrieval, классификацию и итоговую генерацию.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Страница чата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9601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Пользователь получает ответ, источники и ход обработки запроса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Прудиев Алексей Сергеевич · ПМ23-4 · 9/15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13232" y="1298448"/>
            <a:ext cx="2148840" cy="292608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371600"/>
            <a:ext cx="20025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Методы и результаты</a:t>
            </a:r>
            <a:endParaRPr lang="en-US" sz="850" dirty="0"/>
          </a:p>
        </p:txBody>
      </p:sp>
      <p:pic>
        <p:nvPicPr>
          <p:cNvPr id="9" name="Image 0" descr="/Users/a.prudiev/PyCharmMiscProject/curswork/docs/final/assets/chat-p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691640"/>
            <a:ext cx="6583680" cy="44348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635240" y="1828800"/>
            <a:ext cx="3566160" cy="2743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Вопрос задается на естественном языке.</a:t>
            </a:r>
            <a:endParaRPr lang="en-US" sz="1360" dirty="0"/>
          </a:p>
          <a:p>
            <a:pPr marL="177800" indent="-177800">
              <a:buSzPct val="100000"/>
              <a:buChar char="•"/>
            </a:pPr>
            <a:r>
              <a:rPr lang="en-US" sz="13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Ответ строится по найденным новостям.</a:t>
            </a:r>
            <a:endParaRPr lang="en-US" sz="1360" dirty="0"/>
          </a:p>
          <a:p>
            <a:pPr marL="177800" indent="-177800">
              <a:buSzPct val="100000"/>
              <a:buChar char="•"/>
            </a:pPr>
            <a:r>
              <a:rPr lang="en-US" sz="13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Источники показываются рядом с оценкой релевантности и ML-сигналом.</a:t>
            </a:r>
            <a:endParaRPr lang="en-US" sz="1360" dirty="0"/>
          </a:p>
          <a:p>
            <a:pPr marL="177800" indent="-177800">
              <a:buSzPct val="100000"/>
              <a:buChar char="•"/>
            </a:pPr>
            <a:r>
              <a:rPr lang="en-US" sz="136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Timeline делает обработку запроса прозрачной.</a:t>
            </a:r>
            <a:endParaRPr lang="en-US" sz="13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Страница ML-отчета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9601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Отчет показывает качество моделей и объясняет выбор baseline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Прудиев Алексей Сергеевич · ПМ23-4 · 10/15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13232" y="1298448"/>
            <a:ext cx="2148840" cy="292608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371600"/>
            <a:ext cx="20025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Методы и результаты</a:t>
            </a:r>
            <a:endParaRPr lang="en-US" sz="850" dirty="0"/>
          </a:p>
        </p:txBody>
      </p:sp>
      <p:pic>
        <p:nvPicPr>
          <p:cNvPr id="9" name="Image 0" descr="/Users/a.prudiev/PyCharmMiscProject/curswork/docs/final/assets/ml-report-p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691640"/>
            <a:ext cx="6583680" cy="44348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635240" y="1828800"/>
            <a:ext cx="3566160" cy="2743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Сравниваются три модели на одном test split.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Отображаются accuracy, macro F1 и скорость инференса.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Матрица ошибок помогает понять слабые классы.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Top-признаки показывают интерпретируемость TF-IDF baseline.</a:t>
            </a:r>
            <a:endParaRPr lang="en-US" sz="13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Страница прогноза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9601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Система объединяет новости по темам и формирует сценарный вывод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Прудиев Алексей Сергеевич · ПМ23-4 · 11/15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13232" y="1298448"/>
            <a:ext cx="2148840" cy="292608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371600"/>
            <a:ext cx="20025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Методы и результаты</a:t>
            </a:r>
            <a:endParaRPr lang="en-US" sz="850" dirty="0"/>
          </a:p>
        </p:txBody>
      </p:sp>
      <p:pic>
        <p:nvPicPr>
          <p:cNvPr id="9" name="Image 0" descr="/Users/a.prudiev/PyCharmMiscProject/curswork/docs/final/assets/topic-forecast-p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691640"/>
            <a:ext cx="6583680" cy="44348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635240" y="1828800"/>
            <a:ext cx="3566160" cy="2743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Прогноз строится по 10 000 документам.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Найдено 2 716 тематических групп.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Для группы учитываются сигналы нескольких моделей.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Подключаемая языковая модель формулирует прогноз по фактам из новостей.</a:t>
            </a:r>
            <a:endParaRPr lang="en-US" sz="13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Инженерная реализация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9601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Backend поддерживает ML-сценарий, не подменяя исследовательскую часть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Прудиев Алексей Сергеевич · ПМ23-4 · 12/15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13232" y="1298448"/>
            <a:ext cx="2148840" cy="292608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371600"/>
            <a:ext cx="20025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Методы и результаты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7240" y="1755648"/>
            <a:ext cx="2331720" cy="914400"/>
          </a:xfrm>
          <a:prstGeom prst="roundRect">
            <a:avLst>
              <a:gd name="adj" fmla="val 4000"/>
            </a:avLst>
          </a:prstGeom>
          <a:solidFill>
            <a:srgbClr val="EDF3F0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865376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F51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FastAPI + asyncio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868680" y="2139696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асинхронные API и потоковые ответы через SSE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3383280" y="1755648"/>
            <a:ext cx="233172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1865376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F51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DDD и слои</a:t>
            </a:r>
            <a:endParaRPr lang="en-US" sz="1020" dirty="0"/>
          </a:p>
        </p:txBody>
      </p:sp>
      <p:sp>
        <p:nvSpPr>
          <p:cNvPr id="14" name="Text 12"/>
          <p:cNvSpPr/>
          <p:nvPr/>
        </p:nvSpPr>
        <p:spPr>
          <a:xfrm>
            <a:off x="3474720" y="2139696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domain, application, infrastructure, presentation, main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5989320" y="1755648"/>
            <a:ext cx="233172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80760" y="1865376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F51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Protocol + Dishka</a:t>
            </a:r>
            <a:endParaRPr lang="en-US" sz="1020" dirty="0"/>
          </a:p>
        </p:txBody>
      </p:sp>
      <p:sp>
        <p:nvSpPr>
          <p:cNvPr id="17" name="Text 15"/>
          <p:cNvSpPr/>
          <p:nvPr/>
        </p:nvSpPr>
        <p:spPr>
          <a:xfrm>
            <a:off x="6080760" y="2139696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интерфейсы и сборка зависимостей без жесткой связности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8595360" y="1755648"/>
            <a:ext cx="233172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0" y="1865376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F51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Qdrant</a:t>
            </a:r>
            <a:endParaRPr lang="en-US" sz="1020" dirty="0"/>
          </a:p>
        </p:txBody>
      </p:sp>
      <p:sp>
        <p:nvSpPr>
          <p:cNvPr id="20" name="Text 18"/>
          <p:cNvSpPr/>
          <p:nvPr/>
        </p:nvSpPr>
        <p:spPr>
          <a:xfrm>
            <a:off x="8686800" y="2139696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векторный индекс для retrieval-поиска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1920240" y="3246120"/>
            <a:ext cx="256032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11680" y="335584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F51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Redis + Taskiq</a:t>
            </a:r>
            <a:endParaRPr lang="en-US" sz="1020" dirty="0"/>
          </a:p>
        </p:txBody>
      </p:sp>
      <p:sp>
        <p:nvSpPr>
          <p:cNvPr id="23" name="Text 21"/>
          <p:cNvSpPr/>
          <p:nvPr/>
        </p:nvSpPr>
        <p:spPr>
          <a:xfrm>
            <a:off x="2011680" y="36301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фоновые задачи индексации и событийная обработка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4800600" y="3246120"/>
            <a:ext cx="256032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7C6C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92040" y="335584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F51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MLflow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4892040" y="36301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метрики, эксперименты и артефакты моделей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7680960" y="3246120"/>
            <a:ext cx="2560320" cy="914400"/>
          </a:xfrm>
          <a:prstGeom prst="roundRect">
            <a:avLst>
              <a:gd name="adj" fmla="val 4000"/>
            </a:avLst>
          </a:prstGeom>
          <a:solidFill>
            <a:srgbClr val="EDF3F0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0" y="335584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F51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React UI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7772400" y="36301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чат, данные, ML-отчет и прогноз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868680" y="5074920"/>
            <a:ext cx="9966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Главная идея: backend организует надежный путь данных от корпуса к ответу, а ML-компоненты остаются проверяемыми через отчет и метрики.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Ограничения и улучшения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9601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Качество моделей можно повышать за счет данных, параметров и более сильных признаков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Прудиев Алексей Сергеевич · ПМ23-4 · 13/15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13232" y="1298448"/>
            <a:ext cx="2148840" cy="292608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371600"/>
            <a:ext cx="20025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Методы и результаты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2296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51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Текущие ограничения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057400"/>
            <a:ext cx="4846320" cy="2011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Разметка экономического влияния может быть шумной.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Классы распределены неравномерно.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Маленький transformer ограничен размером и режимом обучения.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Retrieval-качество нужно оценивать отдельно от классификации.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2648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51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Что улучшать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126480" y="2057400"/>
            <a:ext cx="4846320" cy="2011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Очистка и уточнение спорной разметки.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Балансировка классов и подбор гиперпараметров.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Более сильные embeddings и transformer-модель.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Добавление признаков: сектор, компания, дата и источник.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Заключение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9601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Реализована диалоговая ML-система для анализа экономических новостей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Прудиев Алексей Сергеевич · ПМ23-4 · 14/15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13232" y="1298448"/>
            <a:ext cx="1325880" cy="292608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371600"/>
            <a:ext cx="117957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Заключение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22960" y="1691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51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Получено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057400"/>
            <a:ext cx="4846320" cy="2011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2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Подготовлен датасет FNSPID на 50 000 новостей.</a:t>
            </a:r>
            <a:endParaRPr lang="en-US" sz="1420" dirty="0"/>
          </a:p>
          <a:p>
            <a:pPr marL="177800" indent="-177800">
              <a:buSzPct val="100000"/>
              <a:buChar char="•"/>
            </a:pPr>
            <a:r>
              <a:rPr lang="en-US" sz="142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Сравнены три модели классификации влияния.</a:t>
            </a:r>
            <a:endParaRPr lang="en-US" sz="1420" dirty="0"/>
          </a:p>
          <a:p>
            <a:pPr marL="177800" indent="-177800">
              <a:buSzPct val="100000"/>
              <a:buChar char="•"/>
            </a:pPr>
            <a:r>
              <a:rPr lang="en-US" sz="142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Реализованы retrieval, RAG-ответ, ML-отчет и прогноз.</a:t>
            </a:r>
            <a:endParaRPr lang="en-US" sz="1420" dirty="0"/>
          </a:p>
          <a:p>
            <a:pPr marL="177800" indent="-177800">
              <a:buSzPct val="100000"/>
              <a:buChar char="•"/>
            </a:pPr>
            <a:r>
              <a:rPr lang="en-US" sz="142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Собрана микросервисная система с React UI.</a:t>
            </a:r>
            <a:endParaRPr lang="en-US" sz="1420" dirty="0"/>
          </a:p>
        </p:txBody>
      </p:sp>
      <p:sp>
        <p:nvSpPr>
          <p:cNvPr id="11" name="Text 9"/>
          <p:cNvSpPr/>
          <p:nvPr/>
        </p:nvSpPr>
        <p:spPr>
          <a:xfrm>
            <a:off x="6126480" y="1691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51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Вывод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126480" y="2057400"/>
            <a:ext cx="4846320" cy="2011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2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Цель работы достигнута.</a:t>
            </a:r>
            <a:endParaRPr lang="en-US" sz="1420" dirty="0"/>
          </a:p>
          <a:p>
            <a:pPr marL="177800" indent="-177800">
              <a:buSzPct val="100000"/>
              <a:buChar char="•"/>
            </a:pPr>
            <a:r>
              <a:rPr lang="en-US" sz="142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Лучший baseline: TF-IDF + Logistic Regression.</a:t>
            </a:r>
            <a:endParaRPr lang="en-US" sz="1420" dirty="0"/>
          </a:p>
          <a:p>
            <a:pPr marL="177800" indent="-177800">
              <a:buSzPct val="100000"/>
              <a:buChar char="•"/>
            </a:pPr>
            <a:r>
              <a:rPr lang="en-US" sz="142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Система показывает полный путь: данные, модели, источники, ответ и прогноз.</a:t>
            </a:r>
            <a:endParaRPr lang="en-US" sz="1420" dirty="0"/>
          </a:p>
          <a:p>
            <a:pPr marL="177800" indent="-177800">
              <a:buSzPct val="100000"/>
              <a:buChar char="•"/>
            </a:pPr>
            <a:r>
              <a:rPr lang="en-US" sz="142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Проект соответствует теме курсовой работы.</a:t>
            </a:r>
            <a:endParaRPr lang="en-US" sz="1420" dirty="0"/>
          </a:p>
        </p:txBody>
      </p:sp>
      <p:sp>
        <p:nvSpPr>
          <p:cNvPr id="13" name="Text 11"/>
          <p:cNvSpPr/>
          <p:nvPr/>
        </p:nvSpPr>
        <p:spPr>
          <a:xfrm>
            <a:off x="822960" y="507492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F3A5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Итог: проект объединяет диалоговый интерфейс, ML-анализ экономических новостей и подключаемую языковую модель.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Источники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9601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Датасет, статьи и документация используемых технологий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5B5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Прудиев Алексей Сергеевич · ПМ23-4 · 15/15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13232" y="1298448"/>
            <a:ext cx="1737360" cy="292608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371600"/>
            <a:ext cx="15910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Список источников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49808" y="1719072"/>
            <a:ext cx="10149840" cy="4389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02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Dong Z. et al. FNSPID: A Comprehensive Financial News Dataset in Time Series. URL: https://arxiv.org/abs/2402.06698</a:t>
            </a:r>
            <a:endParaRPr lang="en-US" sz="1020" dirty="0"/>
          </a:p>
          <a:p>
            <a:pPr marL="177800" indent="-177800">
              <a:buSzPct val="100000"/>
              <a:buChar char="•"/>
            </a:pPr>
            <a:r>
              <a:rPr lang="en-US" sz="102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FNSPID: A Comprehensive Financial News Dataset in Time Series : dataset. URL: https://huggingface.co/datasets/beachside1234/FNSPID</a:t>
            </a:r>
            <a:endParaRPr lang="en-US" sz="1020" dirty="0"/>
          </a:p>
          <a:p>
            <a:pPr marL="177800" indent="-177800">
              <a:buSzPct val="100000"/>
              <a:buChar char="•"/>
            </a:pPr>
            <a:r>
              <a:rPr lang="en-US" sz="102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Pedregosa F. et al. Scikit-learn: Machine Learning in Python. URL: https://arxiv.org/abs/1201.0490</a:t>
            </a:r>
            <a:endParaRPr lang="en-US" sz="1020" dirty="0"/>
          </a:p>
          <a:p>
            <a:pPr marL="177800" indent="-177800">
              <a:buSzPct val="100000"/>
              <a:buChar char="•"/>
            </a:pPr>
            <a:r>
              <a:rPr lang="en-US" sz="102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Scikit-learn documentation. URL: https://scikit-learn.org/stable/</a:t>
            </a:r>
            <a:endParaRPr lang="en-US" sz="1020" dirty="0"/>
          </a:p>
          <a:p>
            <a:pPr marL="177800" indent="-177800">
              <a:buSzPct val="100000"/>
              <a:buChar char="•"/>
            </a:pPr>
            <a:r>
              <a:rPr lang="en-US" sz="102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Paszke A. et al. PyTorch: An Imperative Style, High-Performance Deep Learning Library. URL: https://arxiv.org/abs/1912.01703</a:t>
            </a:r>
            <a:endParaRPr lang="en-US" sz="1020" dirty="0"/>
          </a:p>
          <a:p>
            <a:pPr marL="177800" indent="-177800">
              <a:buSzPct val="100000"/>
              <a:buChar char="•"/>
            </a:pPr>
            <a:r>
              <a:rPr lang="en-US" sz="102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Wolf T. et al. HuggingFace's Transformers: State-of-the-art Natural Language Processing. URL: https://arxiv.org/abs/1910.03771</a:t>
            </a:r>
            <a:endParaRPr lang="en-US" sz="1020" dirty="0"/>
          </a:p>
          <a:p>
            <a:pPr marL="177800" indent="-177800">
              <a:buSzPct val="100000"/>
              <a:buChar char="•"/>
            </a:pPr>
            <a:r>
              <a:rPr lang="en-US" sz="102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Lewis P. et al. Retrieval-Augmented Generation for Knowledge-Intensive NLP Tasks. URL: https://arxiv.org/abs/2005.11401</a:t>
            </a:r>
            <a:endParaRPr lang="en-US" sz="1020" dirty="0"/>
          </a:p>
          <a:p>
            <a:pPr marL="177800" indent="-177800">
              <a:buSzPct val="100000"/>
              <a:buChar char="•"/>
            </a:pPr>
            <a:r>
              <a:rPr lang="en-US" sz="102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Qdrant documentation. URL: https://qdrant.tech/documentation/</a:t>
            </a:r>
            <a:endParaRPr lang="en-US" sz="1020" dirty="0"/>
          </a:p>
          <a:p>
            <a:pPr marL="177800" indent="-177800">
              <a:buSzPct val="100000"/>
              <a:buChar char="•"/>
            </a:pPr>
            <a:r>
              <a:rPr lang="en-US" sz="102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FastAPI documentation. URL: https://fastapi.tiangolo.com/</a:t>
            </a:r>
            <a:endParaRPr lang="en-US" sz="1020" dirty="0"/>
          </a:p>
          <a:p>
            <a:pPr marL="177800" indent="-177800">
              <a:buSzPct val="100000"/>
              <a:buChar char="•"/>
            </a:pPr>
            <a:r>
              <a:rPr lang="en-US" sz="102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MLflow documentation. URL: https://mlflow.org/docs/latest/</a:t>
            </a:r>
            <a:endParaRPr lang="en-US" sz="10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1249</Words>
  <Application>Microsoft Macintosh PowerPoint</Application>
  <PresentationFormat>Широкоэкранный</PresentationFormat>
  <Paragraphs>232</Paragraphs>
  <Slides>15</Slides>
  <Notes>15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8" baseType="lpstr">
      <vt:lpstr>Arial</vt:lpstr>
      <vt:lpstr>Times New Roman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Финансовый университет при Правительстве РФ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автоматической диалоговой системы на основе языковой модели для анализа экономических новостей</dc:title>
  <dc:subject>Курсовая работа</dc:subject>
  <dc:creator>Прудиев Алексей Сергеевич</dc:creator>
  <cp:lastModifiedBy>a.prudiev</cp:lastModifiedBy>
  <cp:revision>2</cp:revision>
  <dcterms:created xsi:type="dcterms:W3CDTF">2026-05-28T19:45:51Z</dcterms:created>
  <dcterms:modified xsi:type="dcterms:W3CDTF">2026-05-28T19:56:06Z</dcterms:modified>
</cp:coreProperties>
</file>