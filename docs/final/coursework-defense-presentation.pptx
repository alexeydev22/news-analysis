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7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2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9133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194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Финансовый университет при Правительстве РФ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691640"/>
            <a:ext cx="10149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автоматической диалоговой системы на основе языковой модели для анализа экономических новостей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92240" y="382219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Выполнил: Прудиев Алексей Сергеевич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Группа: ПМ23-4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Руководитель: ____________________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5166360"/>
            <a:ext cx="10149840" cy="0"/>
          </a:xfrm>
          <a:prstGeom prst="line">
            <a:avLst/>
          </a:prstGeom>
          <a:noFill/>
          <a:ln w="12700">
            <a:solidFill>
              <a:srgbClr val="B7C6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68756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Москва,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1/11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Экономические новости требуют быстрого поиска, фильтрации и интерпретации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2/11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335024"/>
            <a:ext cx="28346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408176"/>
            <a:ext cx="2688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актуальность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810512"/>
            <a:ext cx="5486400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Поток экономических новостей слишком велик для ручного анализа.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событие может иметь разное влияние на рынок, компанию или сектор.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Пользователю нужен ответ на естественном языке, но с опорой на источники.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Диалоговая система объединяет поиск, ML-оценку влияния и краткий аналитический вывод.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29400" y="1783080"/>
            <a:ext cx="14173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9128" y="1892808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39128" y="2221992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новостей FNSPID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14173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5048" y="1892808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5048" y="2221992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анализа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9921240" y="1783080"/>
            <a:ext cx="1645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0968" y="1892808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10 000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30968" y="2221992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документов в прогнозе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21792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30552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77440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32304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86200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3088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87952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41848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88736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ML-анализ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97496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4384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99248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153144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00032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54896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и задачи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разработать диалоговую систему для анализа экономических новостей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3/11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8803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734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цель и задачи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работы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20299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систему, которая принимает вопрос пользователя, находит релевантные экономические новости, оценивает их влияние и формирует ответ с источниками.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72200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72200" y="2029968"/>
            <a:ext cx="5029200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датасет FNSPID и постановку ML-задачи.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Сравнить три модели классификации влияния.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retrieval и RAG-ответ по источникам.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внешний LLM API для аналитического прогноза.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Собрать веб-интерфейс и микросервисную backend-архитектуру.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 постановка задачи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FNSPID используется как корпус экономических новостей для обучения и анализа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4/11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4231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276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755648"/>
            <a:ext cx="15544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8653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" y="2194560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 в датасете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606040" y="1755648"/>
            <a:ext cx="13258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15768" y="1865376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15768" y="2194560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класса влияния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160520" y="1755648"/>
            <a:ext cx="1645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70248" y="186537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train/val/test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270248" y="2194560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разделение выборки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22960" y="2880360"/>
            <a:ext cx="2834640" cy="43891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295351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Элемент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880360"/>
            <a:ext cx="7315200" cy="43891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21608" y="2953512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3319272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3392424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анализа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57600" y="3319272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1608" y="3392424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экономическая новость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822960" y="3758184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831336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модели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3657600" y="3758184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21608" y="3831336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 и текст новости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822960" y="4197096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6968" y="4270248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переменная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3657600" y="4197096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21608" y="4270248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/ neutral / negative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822960" y="4636008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6968" y="4709160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данных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3657600" y="4636008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21608" y="4709160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шумная разметка и дисбаланс классов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822960" y="5074920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" y="51480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метрика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3657600" y="5074920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21608" y="5148072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F1, так как важны все классы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82296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классификации используется не изолированно: ее результат входит в RAG-сценарий ответа и тематический прогноз.</a:t>
            </a:r>
            <a:endParaRPr lang="en-US" sz="13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анализа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Сравниваются простая, семантическая и легкая нейросетевая модель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5/11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4231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276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783080"/>
            <a:ext cx="2514600" cy="59436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185623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64408" y="1783080"/>
            <a:ext cx="3657600" cy="59436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28416" y="185623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22008" y="1783080"/>
            <a:ext cx="4572000" cy="59436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86016" y="185623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нужна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" y="2377440"/>
            <a:ext cx="2514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245059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tfidf-logreg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3264408" y="2377440"/>
            <a:ext cx="3657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245059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+ Logistic Regression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6922008" y="2377440"/>
            <a:ext cx="45720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86016" y="245059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и объяснимый baseline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49808" y="2971800"/>
            <a:ext cx="2514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" y="304495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embedding-logreg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3264408" y="2971800"/>
            <a:ext cx="3657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28416" y="304495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+ Logistic Regression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922008" y="2971800"/>
            <a:ext cx="45720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86016" y="304495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семантических признаков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749808" y="3566160"/>
            <a:ext cx="2514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3816" y="363931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tiny-transformer-classifier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3264408" y="3566160"/>
            <a:ext cx="3657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28416" y="363931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легкий transformer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6922008" y="3566160"/>
            <a:ext cx="45720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86016" y="363931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нейросетевой вариант с малым потреблением ресурсов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868680" y="4480560"/>
            <a:ext cx="98755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показывает общую долю верных классификаций.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 показывает качество по каждому классу и важен при дисбалансе.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time нужен, чтобы оценить применимость модели в интерактивной системе.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ML/RAG-пайплайн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формируется по найденным новостям, а не как абстрактная генерация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6/11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4231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276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30552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33088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87952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41848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8736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ML-оценка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97496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9248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LLM/API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53144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00032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54896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2971800"/>
            <a:ext cx="2331720" cy="475488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044952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54680" y="2971800"/>
            <a:ext cx="7680960" cy="475488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18688" y="3044952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" y="3447288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6968" y="3520440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3154680" y="3447288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18688" y="3520440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релевантных новостей из Qdrant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822960" y="3922776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6968" y="3995928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3154680" y="3922776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18688" y="3995928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impact, confidence и объяснение для источников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822960" y="4398264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" y="4471416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3154680" y="4398264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18688" y="4471416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по найденному контексту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822960" y="4873752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6968" y="4946904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3154680" y="4873752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4946904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 через API формирует сценарный вывод по фактам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приложения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Микросервисы разделяют UI, поиск, анализ, диалог и работу с данными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7/11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4231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276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1755648"/>
            <a:ext cx="1828800" cy="868680"/>
          </a:xfrm>
          <a:prstGeom prst="roundRect">
            <a:avLst>
              <a:gd name="adj" fmla="val 4211"/>
            </a:avLst>
          </a:prstGeom>
          <a:solidFill>
            <a:srgbClr val="EDF3F0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65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68680" y="213969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Чат, ML-отчет, прогноз, загрузка данных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971800" y="1755648"/>
            <a:ext cx="1828800" cy="868680"/>
          </a:xfrm>
          <a:prstGeom prst="roundRect">
            <a:avLst>
              <a:gd name="adj" fmla="val 4211"/>
            </a:avLst>
          </a:prstGeom>
          <a:solidFill>
            <a:srgbClr val="EDF3F0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1865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063240" y="213969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Единая точка входа и SSE-сценарий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166360" y="1755648"/>
            <a:ext cx="18288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1865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analysis-service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5257800" y="213969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 и ML-отчет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360920" y="1755648"/>
            <a:ext cx="18288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1865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retrieval-service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52360" y="213969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Векторный поиск и Qdrant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9555480" y="1755648"/>
            <a:ext cx="18288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865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dialog-service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9646920" y="213969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и внешний LLM API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1783080" y="3246120"/>
            <a:ext cx="20574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74520" y="33558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news-service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874520" y="3630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CSV и активный датасет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4343400" y="3246120"/>
            <a:ext cx="20574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33558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+ Taskiq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4434840" y="3630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Фоновые задачи и события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903720" y="3246120"/>
            <a:ext cx="20574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95160" y="33558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995160" y="3630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Векторное хранилище документов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9464040" y="3246120"/>
            <a:ext cx="20574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55480" y="33558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</a:t>
            </a:r>
            <a:endParaRPr lang="en-US" sz="1020" dirty="0"/>
          </a:p>
        </p:txBody>
      </p:sp>
      <p:sp>
        <p:nvSpPr>
          <p:cNvPr id="35" name="Text 33"/>
          <p:cNvSpPr/>
          <p:nvPr/>
        </p:nvSpPr>
        <p:spPr>
          <a:xfrm>
            <a:off x="9555480" y="3630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Учет экспериментов и артефактов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822960" y="507492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построен слоисто: domain, application, infrastructure, presentation, main. Интерфейсы описаны через Protocol, зависимости собираются через Dishka.</a:t>
            </a:r>
            <a:endParaRPr lang="en-US" sz="13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моделей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Лучшее качество показала TF-IDF + Logistic Regression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8/11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4231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276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274320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810512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56432" y="1737360"/>
            <a:ext cx="182880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81051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5232" y="1737360"/>
            <a:ext cx="182880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181051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macro F1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14032" y="1737360"/>
            <a:ext cx="438912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78040" y="1810512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3232" y="2267712"/>
            <a:ext cx="274320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2340864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tfidf-logreg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3456432" y="2267712"/>
            <a:ext cx="182880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340864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0.785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5285232" y="2267712"/>
            <a:ext cx="182880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2340864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0.717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7114032" y="2267712"/>
            <a:ext cx="438912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2340864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baseline-модель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713232" y="2798064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2871216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embedding-logreg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3456432" y="2798064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0440" y="287121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0.594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5285232" y="2798064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287121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0.515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7114032" y="2798064"/>
            <a:ext cx="4389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871216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семантический baseline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713232" y="3328416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3401568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tiny-transformer-classifier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3456432" y="3328416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0440" y="3401568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0.488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5285232" y="3328416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49240" y="3401568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0.352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7114032" y="3328416"/>
            <a:ext cx="4389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3401568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легкая нейросетевая модель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868680" y="4343400"/>
            <a:ext cx="98755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+ Logistic Regression стала лучшей baseline-моделью на текущей разметке.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Качество ограничено шумом данных и дисбалансом классов.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пригодна как базовый классификатор для RAG-системы и дальнейших экспериментов.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68680" y="565099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Лучший Test macro F1: 0.717 · тематических групп в прогнозе: 2 716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приложения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ключевые страницы: чат, ML-отчет и прогноз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9/11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4231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276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</a:t>
            </a:r>
            <a:endParaRPr lang="en-US" sz="1250" dirty="0"/>
          </a:p>
        </p:txBody>
      </p:sp>
      <p:pic>
        <p:nvPicPr>
          <p:cNvPr id="10" name="Image 0" descr="/Users/a.prudiev/PyCharmMiscProject/curswork/docs/final/assets/chat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38528"/>
            <a:ext cx="3429000" cy="2834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370832" y="166420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ML-отчет</a:t>
            </a:r>
            <a:endParaRPr lang="en-US" sz="1250" dirty="0"/>
          </a:p>
        </p:txBody>
      </p:sp>
      <p:pic>
        <p:nvPicPr>
          <p:cNvPr id="12" name="Image 1" descr="/Users/a.prudiev/PyCharmMiscProject/curswork/docs/final/assets/ml-report-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1938528"/>
            <a:ext cx="3429000" cy="2834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11312" y="166420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</a:t>
            </a:r>
            <a:endParaRPr lang="en-US" sz="1250" dirty="0"/>
          </a:p>
        </p:txBody>
      </p:sp>
      <p:pic>
        <p:nvPicPr>
          <p:cNvPr id="14" name="Image 2" descr="/Users/a.prudiev/PyCharmMiscProject/curswork/docs/final/assets/topic-forecast-p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1938528"/>
            <a:ext cx="3429000" cy="2834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49808" y="5166360"/>
            <a:ext cx="1033272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показывает ответ, источники и ход обработки.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ML-отчет показывает метрики трех моделей на 50 000 строк.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 показывает тематические группы и сценарные выводы по 10 000 документам.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Реализована диалоговая ML-система для анализа экономических новостей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10/11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16916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1545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заключение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57400"/>
            <a:ext cx="48463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Подготовлен датасет FNSPID на 50 000 новостей.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Сравнены три модели классификации влияния.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Реализованы retrieval, RAG-ответ, ML-отчет и прогноз.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Собрана микросервисная система с React UI.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6126480" y="16916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Дальнейшее улучшение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48463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Уточнение и очистка разметки.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Балансировка классов и подбор гиперпараметров.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Дообучение более сильной transformer-модели.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качества тематического прогнозирования.</a:t>
            </a:r>
            <a:endParaRPr lang="en-US" sz="14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Методические материалы, датасет и документация используемых технологий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11/11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05740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1911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список источников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1783080"/>
            <a:ext cx="10149840" cy="4206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FNSPID dataset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 documentation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documentation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 Face Transformers documentation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documentation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documentation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 documentation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documentation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826</Words>
  <Application>Microsoft Macintosh PowerPoint</Application>
  <PresentationFormat>Широкоэкранный</PresentationFormat>
  <Paragraphs>196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Финансовый университет при Правительстве РФ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автоматической диалоговой системы на основе языковой модели для анализа экономических новостей</dc:title>
  <dc:subject>Курсовая работа</dc:subject>
  <dc:creator>Прудиев Алексей Сергеевич</dc:creator>
  <cp:lastModifiedBy>a.prudiev</cp:lastModifiedBy>
  <cp:revision>2</cp:revision>
  <dcterms:created xsi:type="dcterms:W3CDTF">2026-05-13T11:44:35Z</dcterms:created>
  <dcterms:modified xsi:type="dcterms:W3CDTF">2026-05-13T12:09:41Z</dcterms:modified>
</cp:coreProperties>
</file>