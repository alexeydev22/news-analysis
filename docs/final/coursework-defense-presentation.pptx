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8"/>
          </a:solidFill>
          <a:ln w="12700">
            <a:solidFill>
              <a:srgbClr val="F8F9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1945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Финансовый университет при Правительстве РФ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КУРСОВАЯ РАБОТА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10149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автоматической диалоговой системы на основе языковой модели для анализа экономических новостей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92240" y="382219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Выполнил: Прудиев Алексей Сергеевич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Группа: ПМ23-4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Руководитель: ____________________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5166360"/>
            <a:ext cx="10149840" cy="0"/>
          </a:xfrm>
          <a:prstGeom prst="line">
            <a:avLst/>
          </a:prstGeom>
          <a:noFill/>
          <a:ln w="12700">
            <a:solidFill>
              <a:srgbClr val="B7C6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68756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Москва,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Прудиев Алексей Сергеевич · ПМ23-4 · 1/11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8"/>
          </a:solidFill>
          <a:ln w="12700">
            <a:solidFill>
              <a:srgbClr val="F8F9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9601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Экономические новости требуют быстрого поиска, фильтрации и интерпретации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Прудиев Алексей Сергеевич · ПМ23-4 · 2/11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335024"/>
            <a:ext cx="2834640" cy="29260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408176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Критерий: введение / актуальность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810512"/>
            <a:ext cx="548640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 экономических новостей слишком велик для ручного анализа.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 событие может иметь разное влияние на рынок, компанию или сектор.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Пользователю нужен ответ на естественном языке, но с опорой на источники.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Диалоговая система объединяет поиск, ML-оценку влияния и краткий аналитический вывод.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29400" y="1783080"/>
            <a:ext cx="14173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1892808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50 000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39128" y="222199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новостей FNSPID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275320" y="1783080"/>
            <a:ext cx="14173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892808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5048" y="222199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анализа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9921240" y="1783080"/>
            <a:ext cx="16459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30968" y="18928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10 000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30968" y="222199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документов в прогнозе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21792" y="470916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4882896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новости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130552" y="4919472"/>
            <a:ext cx="256032" cy="219456"/>
          </a:xfrm>
          <a:prstGeom prst="rightArrow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470916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32304" y="4882896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86200" y="4919472"/>
            <a:ext cx="256032" cy="219456"/>
          </a:xfrm>
          <a:prstGeom prst="rightArrow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33088" y="470916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87952" y="4882896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41848" y="4919472"/>
            <a:ext cx="256032" cy="219456"/>
          </a:xfrm>
          <a:prstGeom prst="rightArrow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88736" y="470916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4882896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ML-анализ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97496" y="4919472"/>
            <a:ext cx="256032" cy="219456"/>
          </a:xfrm>
          <a:prstGeom prst="rightArrow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44384" y="470916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99248" y="4882896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153144" y="4919472"/>
            <a:ext cx="256032" cy="219456"/>
          </a:xfrm>
          <a:prstGeom prst="rightArrow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0032" y="470916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54896" y="4882896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8"/>
          </a:solidFill>
          <a:ln w="12700">
            <a:solidFill>
              <a:srgbClr val="F8F9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задачи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9601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разработать диалоговую систему для анализа экономических новостей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Прудиев Алексей Сергеевич · ПМ23-4 · 3/11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98448"/>
            <a:ext cx="2880360" cy="29260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371600"/>
            <a:ext cx="2734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Критерий: введение / цель и задачи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49808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работы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202996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систему, которая принимает вопрос пользователя, находит релевантные экономические новости, оценивает их влияние и формирует ответ с источниками.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7220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72200" y="2029968"/>
            <a:ext cx="50292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датасет FNSPID и постановку ML-задачи.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Сравнить три модели классификации влияния.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retrieval и RAG-ответ по источникам.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Подключить внешний LLM API для аналитического прогноза.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Собрать веб-интерфейс и микросервисную backend-архитектуру.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8"/>
          </a:solidFill>
          <a:ln w="12700">
            <a:solidFill>
              <a:srgbClr val="F8F9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постановка задачи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9601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FNSPID используется как корпус экономических новостей для обучения и анализа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Прудиев Алексей Сергеевич · ПМ23-4 · 4/11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98448"/>
            <a:ext cx="2423160" cy="29260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371600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Критерий: методы и результаты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755648"/>
            <a:ext cx="15544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865376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219456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 в датасете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606040" y="1755648"/>
            <a:ext cx="13258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1865376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15768" y="2194560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класса влияния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160520" y="1755648"/>
            <a:ext cx="16459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0248" y="186537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train/val/test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70248" y="219456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разделение выборки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22960" y="2880360"/>
            <a:ext cx="2834640" cy="438912"/>
          </a:xfrm>
          <a:prstGeom prst="rect">
            <a:avLst/>
          </a:prstGeom>
          <a:solidFill>
            <a:srgbClr val="EDF3F0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295351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Элемент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0" y="2880360"/>
            <a:ext cx="7315200" cy="438912"/>
          </a:xfrm>
          <a:prstGeom prst="rect">
            <a:avLst/>
          </a:prstGeom>
          <a:solidFill>
            <a:srgbClr val="EDF3F0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21608" y="2953512"/>
            <a:ext cx="7187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3319272"/>
            <a:ext cx="28346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3392424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анализа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57600" y="3319272"/>
            <a:ext cx="731520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21608" y="3392424"/>
            <a:ext cx="7187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экономическая новость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822960" y="3758184"/>
            <a:ext cx="28346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3831336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 модели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3657600" y="3758184"/>
            <a:ext cx="731520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21608" y="3831336"/>
            <a:ext cx="7187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заголовок и текст новости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822960" y="4197096"/>
            <a:ext cx="28346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" y="4270248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переменная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3657600" y="4197096"/>
            <a:ext cx="731520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21608" y="4270248"/>
            <a:ext cx="7187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/ neutral / negative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822960" y="4636008"/>
            <a:ext cx="28346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" y="4709160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данных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3657600" y="4636008"/>
            <a:ext cx="731520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21608" y="4709160"/>
            <a:ext cx="7187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шумная разметка и дисбаланс классов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822960" y="5074920"/>
            <a:ext cx="28346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" y="514807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метрика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3657600" y="5074920"/>
            <a:ext cx="731520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21608" y="5148072"/>
            <a:ext cx="7187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F1, так как важны все классы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822960" y="56692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классификации используется не изолированно: ее результат входит в RAG-сценарий ответа и тематический прогноз.</a:t>
            </a:r>
            <a:endParaRPr lang="en-US" sz="13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8"/>
          </a:solidFill>
          <a:ln w="12700">
            <a:solidFill>
              <a:srgbClr val="F8F9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анализа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9601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Сравниваются простая, семантическая и легкая нейросетевая модель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Прудиев Алексей Сергеевич · ПМ23-4 · 5/11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98448"/>
            <a:ext cx="2423160" cy="29260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371600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Критерий: методы и результаты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" y="1783080"/>
            <a:ext cx="2514600" cy="594360"/>
          </a:xfrm>
          <a:prstGeom prst="rect">
            <a:avLst/>
          </a:prstGeom>
          <a:solidFill>
            <a:srgbClr val="EDF3F0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856232"/>
            <a:ext cx="23865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1783080"/>
            <a:ext cx="3657600" cy="594360"/>
          </a:xfrm>
          <a:prstGeom prst="rect">
            <a:avLst/>
          </a:prstGeom>
          <a:solidFill>
            <a:srgbClr val="EDF3F0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1856232"/>
            <a:ext cx="35295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22008" y="1783080"/>
            <a:ext cx="4572000" cy="594360"/>
          </a:xfrm>
          <a:prstGeom prst="rect">
            <a:avLst/>
          </a:prstGeom>
          <a:solidFill>
            <a:srgbClr val="EDF3F0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86016" y="1856232"/>
            <a:ext cx="44439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нужна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9808" y="2377440"/>
            <a:ext cx="25146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" y="2450592"/>
            <a:ext cx="23865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tfidf-logreg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3264408" y="2377440"/>
            <a:ext cx="36576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2450592"/>
            <a:ext cx="35295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Logistic Regression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922008" y="2377440"/>
            <a:ext cx="45720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86016" y="2450592"/>
            <a:ext cx="44439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и объяснимый baseline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49808" y="2971800"/>
            <a:ext cx="25146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" y="3044952"/>
            <a:ext cx="23865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embedding-logreg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3264408" y="2971800"/>
            <a:ext cx="36576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3044952"/>
            <a:ext cx="35295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+ Logistic Regression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6922008" y="2971800"/>
            <a:ext cx="45720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86016" y="3044952"/>
            <a:ext cx="44439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семантических признаков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749808" y="3566160"/>
            <a:ext cx="25146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" y="3639312"/>
            <a:ext cx="23865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tiny-transformer-classifier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3264408" y="3566160"/>
            <a:ext cx="36576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28416" y="3639312"/>
            <a:ext cx="35295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легкий transformer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6922008" y="3566160"/>
            <a:ext cx="45720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86016" y="3639312"/>
            <a:ext cx="44439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нейросетевой вариант с малым потреблением ресурсов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868680" y="4480560"/>
            <a:ext cx="98755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показывает общую долю верных классификаций.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 показывает качество по каждому классу и важен при дисбалансе.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time нужен, чтобы оценить применимость модели в интерактивной системе.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8"/>
          </a:solidFill>
          <a:ln w="12700">
            <a:solidFill>
              <a:srgbClr val="F8F9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ML/RAG-пайплайн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9601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формируется по найденным новостям, а не как абстрактная генерация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Прудиев Алексей Сергеевич · ПМ23-4 · 6/11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98448"/>
            <a:ext cx="2423160" cy="29260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371600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Критерий: методы и результаты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182880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002536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30552" y="2039112"/>
            <a:ext cx="256032" cy="219456"/>
          </a:xfrm>
          <a:prstGeom prst="rightArrow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82880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32304" y="2002536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86200" y="2039112"/>
            <a:ext cx="256032" cy="219456"/>
          </a:xfrm>
          <a:prstGeom prst="rightArrow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33088" y="182880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87952" y="2002536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41848" y="2039112"/>
            <a:ext cx="256032" cy="219456"/>
          </a:xfrm>
          <a:prstGeom prst="rightArrow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88736" y="182880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2002536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ML-оценка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97496" y="2039112"/>
            <a:ext cx="256032" cy="219456"/>
          </a:xfrm>
          <a:prstGeom prst="rightArrow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44384" y="182880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9248" y="2002536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LLM/API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53144" y="2039112"/>
            <a:ext cx="256032" cy="219456"/>
          </a:xfrm>
          <a:prstGeom prst="rightArrow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00032" y="182880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54896" y="2002536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2971800"/>
            <a:ext cx="2331720" cy="475488"/>
          </a:xfrm>
          <a:prstGeom prst="rect">
            <a:avLst/>
          </a:prstGeom>
          <a:solidFill>
            <a:srgbClr val="EDF3F0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304495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54680" y="2971800"/>
            <a:ext cx="7680960" cy="475488"/>
          </a:xfrm>
          <a:prstGeom prst="rect">
            <a:avLst/>
          </a:prstGeom>
          <a:solidFill>
            <a:srgbClr val="EDF3F0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18688" y="3044952"/>
            <a:ext cx="7552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" y="3447288"/>
            <a:ext cx="23317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" y="352044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3154680" y="3447288"/>
            <a:ext cx="768096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18688" y="3520440"/>
            <a:ext cx="7552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релевантных новостей из Qdrant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822960" y="3922776"/>
            <a:ext cx="23317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" y="399592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3154680" y="3922776"/>
            <a:ext cx="768096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18688" y="3995928"/>
            <a:ext cx="7552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impact, confidence и объяснение для источников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822960" y="4398264"/>
            <a:ext cx="23317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" y="4471416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3154680" y="4398264"/>
            <a:ext cx="768096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18688" y="4471416"/>
            <a:ext cx="7552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строится по найденному контексту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822960" y="4873752"/>
            <a:ext cx="23317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6968" y="4946904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3154680" y="4873752"/>
            <a:ext cx="768096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18688" y="4946904"/>
            <a:ext cx="7552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языковая модель через API формирует сценарный вывод по фактам</a:t>
            </a:r>
            <a:endParaRPr lang="en-US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8"/>
          </a:solidFill>
          <a:ln w="12700">
            <a:solidFill>
              <a:srgbClr val="F8F9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приложения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9601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Микросервисы разделяют UI, поиск, анализ, диалог и работу с данными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Прудиев Алексей Сергеевич · ПМ23-4 · 7/11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98448"/>
            <a:ext cx="2423160" cy="29260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371600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Критерий: методы и результаты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755648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EDF3F0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8653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68680" y="213969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Чат, ML-отчет, прогноз, загрузка данных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971800" y="1755648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EDF3F0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8653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3063240" y="213969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точка входа и SSE-сценарий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166360" y="1755648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18653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analysis-service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257800" y="213969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влияния и ML-отчет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360920" y="1755648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18653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retrieval-service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7452360" y="213969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Векторный поиск и Qdrant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555480" y="1755648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18653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dialog-service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9646920" y="213969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и внешний LLM API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1783080" y="3246120"/>
            <a:ext cx="205740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74520" y="33558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news-service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1874520" y="3630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CSV и активный датасет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343400" y="3246120"/>
            <a:ext cx="205740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33558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+ Taskiq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4434840" y="3630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Фоновые задачи и события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903720" y="3246120"/>
            <a:ext cx="205740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33558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6995160" y="3630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Векторное хранилище документов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9464040" y="3246120"/>
            <a:ext cx="205740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7C6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55480" y="33558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9555480" y="3630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экспериментов и артефактов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822960" y="5074920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построен слоисто: domain, application, infrastructure, presentation, main. Интерфейсы описаны через Protocol, зависимости собираются через Dishka.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8"/>
          </a:solidFill>
          <a:ln w="12700">
            <a:solidFill>
              <a:srgbClr val="F8F9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моделей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9601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Лучшее качество показала TF-IDF + Logistic Regression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Прудиев Алексей Сергеевич · ПМ23-4 · 8/11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98448"/>
            <a:ext cx="2423160" cy="29260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371600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Критерий: методы и результаты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3232" y="1737360"/>
            <a:ext cx="2743200" cy="530352"/>
          </a:xfrm>
          <a:prstGeom prst="rect">
            <a:avLst/>
          </a:prstGeom>
          <a:solidFill>
            <a:srgbClr val="EDF3F0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1051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56432" y="1737360"/>
            <a:ext cx="1828800" cy="530352"/>
          </a:xfrm>
          <a:prstGeom prst="rect">
            <a:avLst/>
          </a:prstGeom>
          <a:solidFill>
            <a:srgbClr val="EDF3F0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81051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85232" y="1737360"/>
            <a:ext cx="1828800" cy="530352"/>
          </a:xfrm>
          <a:prstGeom prst="rect">
            <a:avLst/>
          </a:prstGeom>
          <a:solidFill>
            <a:srgbClr val="EDF3F0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181051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macro F1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14032" y="1737360"/>
            <a:ext cx="4389120" cy="530352"/>
          </a:xfrm>
          <a:prstGeom prst="rect">
            <a:avLst/>
          </a:prstGeom>
          <a:solidFill>
            <a:srgbClr val="EDF3F0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1810512"/>
            <a:ext cx="4261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" y="2267712"/>
            <a:ext cx="2743200" cy="530352"/>
          </a:xfrm>
          <a:prstGeom prst="rect">
            <a:avLst/>
          </a:prstGeom>
          <a:solidFill>
            <a:srgbClr val="F6F1E8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340864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tfidf-logreg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3456432" y="2267712"/>
            <a:ext cx="1828800" cy="530352"/>
          </a:xfrm>
          <a:prstGeom prst="rect">
            <a:avLst/>
          </a:prstGeom>
          <a:solidFill>
            <a:srgbClr val="F6F1E8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340864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0.785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5285232" y="2267712"/>
            <a:ext cx="1828800" cy="530352"/>
          </a:xfrm>
          <a:prstGeom prst="rect">
            <a:avLst/>
          </a:prstGeom>
          <a:solidFill>
            <a:srgbClr val="F6F1E8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2340864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0.717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7114032" y="2267712"/>
            <a:ext cx="4389120" cy="530352"/>
          </a:xfrm>
          <a:prstGeom prst="rect">
            <a:avLst/>
          </a:prstGeom>
          <a:solidFill>
            <a:srgbClr val="F6F1E8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2340864"/>
            <a:ext cx="4261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лучшая baseline-модель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713232" y="2798064"/>
            <a:ext cx="27432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2871216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embedding-logreg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3456432" y="2798064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287121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0.594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5285232" y="2798064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287121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0.515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7114032" y="2798064"/>
            <a:ext cx="43891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78040" y="2871216"/>
            <a:ext cx="4261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семантический baseline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713232" y="3328416"/>
            <a:ext cx="27432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340156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tiny-transformer-classifier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3456432" y="3328416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20440" y="3401568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0.488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5285232" y="3328416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3401568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0.352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7114032" y="3328416"/>
            <a:ext cx="43891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7C6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78040" y="3401568"/>
            <a:ext cx="4261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легкая нейросетевая модель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868680" y="4343400"/>
            <a:ext cx="98755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Logistic Regression стала лучшей baseline-моделью на текущей разметке.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ограничено шумом данных и дисбалансом классов.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пригодна как базовый классификатор для RAG-системы и дальнейших экспериментов.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68680" y="56509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Лучший Test macro F1: 0.717 · тематических групп в прогнозе: 2 716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8"/>
          </a:solidFill>
          <a:ln w="12700">
            <a:solidFill>
              <a:srgbClr val="F8F9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приложения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9601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ключевые страницы: чат, ML-отчет и прогноз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Прудиев Алексей Сергеевич · ПМ23-4 · 9/11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98448"/>
            <a:ext cx="2423160" cy="29260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371600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Критерий: методы и результаты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16642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</a:t>
            </a:r>
            <a:endParaRPr lang="en-US" sz="1250" dirty="0"/>
          </a:p>
        </p:txBody>
      </p:sp>
      <p:pic>
        <p:nvPicPr>
          <p:cNvPr id="10" name="Image 0" descr="/Users/a.prudiev/PyCharmMiscProject/curswork/docs/final/assets/chat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938528"/>
            <a:ext cx="3429000" cy="2834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370832" y="16642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ML-отчет</a:t>
            </a:r>
            <a:endParaRPr lang="en-US" sz="1250" dirty="0"/>
          </a:p>
        </p:txBody>
      </p:sp>
      <p:pic>
        <p:nvPicPr>
          <p:cNvPr id="12" name="Image 1" descr="/Users/a.prudiev/PyCharmMiscProject/curswork/docs/final/assets/ml-report-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938528"/>
            <a:ext cx="3429000" cy="2834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11312" y="16642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</a:t>
            </a:r>
            <a:endParaRPr lang="en-US" sz="1250" dirty="0"/>
          </a:p>
        </p:txBody>
      </p:sp>
      <p:pic>
        <p:nvPicPr>
          <p:cNvPr id="14" name="Image 2" descr="/Users/a.prudiev/PyCharmMiscProject/curswork/docs/final/assets/topic-forecast-p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938528"/>
            <a:ext cx="3429000" cy="2834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808" y="5166360"/>
            <a:ext cx="103327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 показывает ответ, источники и ход обработки.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ML-отчет показывает метрики трех моделей на 50 000 строк.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показывает тематические группы и сценарные выводы по 10 000 документам.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8"/>
          </a:solidFill>
          <a:ln w="12700">
            <a:solidFill>
              <a:srgbClr val="F8F9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9601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Реализована диалоговая ML-система для анализа экономических новостей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Прудиев Алексей Сергеевич · ПМ23-4 · 10/11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98448"/>
            <a:ext cx="1691640" cy="29260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371600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Критерий: заключение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Получено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484632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Подготовлен датасет FNSPID на 50 000 новостей.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Сравнены три модели классификации влияния.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Реализованы retrieval, RAG-ответ, ML-отчет и прогноз.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Собрана микросервисная система с React UI.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6126480" y="1691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Дальнейшее улучшение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26480" y="2057400"/>
            <a:ext cx="484632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Уточнение и очистка разметки.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Балансировка классов и подбор гиперпараметров.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Дообучение более сильной transformer-модели.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качества тематического прогнозирования.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822960" y="50749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Итог: проект соответствует теме, так как объединяет диалоговый интерфейс, ML-анализ экономических новостей и подключаемую языковую модель.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8"/>
          </a:solidFill>
          <a:ln w="12700">
            <a:solidFill>
              <a:srgbClr val="F8F9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9601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Методические материалы, датасет и документация используемых технологий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Прудиев Алексей Сергеевич · ПМ23-4 · 11/11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98448"/>
            <a:ext cx="2057400" cy="29260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371600"/>
            <a:ext cx="1911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Критерий: список источников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49808" y="1783080"/>
            <a:ext cx="1014984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Методические указания по выполнению курсовых работ по дисциплине «Машинное обучение в семантическом и сетевом анализе»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FNSPID dataset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documentation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documentation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Transformers documentation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documentation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documentation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documentation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documentation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Финансовый университет при Правительстве РФ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автоматической диалоговой системы на основе языковой модели для анализа экономических новостей</dc:title>
  <dc:subject>Курсовая работа</dc:subject>
  <dc:creator>Прудиев Алексей Сергеевич</dc:creator>
  <cp:lastModifiedBy>Прудиев Алексей Сергеевич</cp:lastModifiedBy>
  <cp:revision>1</cp:revision>
  <dcterms:created xsi:type="dcterms:W3CDTF">2026-05-13T11:44:35Z</dcterms:created>
  <dcterms:modified xsi:type="dcterms:W3CDTF">2026-05-13T11:44:35Z</dcterms:modified>
</cp:coreProperties>
</file>